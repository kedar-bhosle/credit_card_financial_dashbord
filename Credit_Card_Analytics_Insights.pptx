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redit Card Analytics" id="{88296b1a-644c-4454-7a95-74c0cb81ddf2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08799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024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79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799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79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5483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13.8</c:v>
                </c:pt>
                <c:pt idx="2">
                  <c:v>14.2</c:v>
                </c:pt>
                <c:pt idx="3">
                  <c:v>13.3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024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4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08799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4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79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Blue</c:v>
                  </c:pt>
                  <c:pt idx="1">
                    <c:v>Silver</c:v>
                  </c:pt>
                  <c:pt idx="2">
                    <c:v>Gold</c:v>
                  </c:pt>
                  <c:pt idx="3">
                    <c:v>Platinum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46.1</c:v>
                </c:pt>
                <c:pt idx="1">
                  <c:v>5.6</c:v>
                </c:pt>
                <c:pt idx="2">
                  <c:v>2.5</c:v>
                </c:pt>
                <c:pt idx="3">
                  <c:v>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024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4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08799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4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79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Bills</c:v>
                  </c:pt>
                  <c:pt idx="1">
                    <c:v>Entertainment</c:v>
                  </c:pt>
                  <c:pt idx="2">
                    <c:v>Fuel</c:v>
                  </c:pt>
                  <c:pt idx="3">
                    <c:v>Grocery</c:v>
                  </c:pt>
                  <c:pt idx="4">
                    <c:v>Food</c:v>
                  </c:pt>
                  <c:pt idx="5">
                    <c:v>Travel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10</c:v>
                </c:pt>
                <c:pt idx="2">
                  <c:v>9</c:v>
                </c:pt>
                <c:pt idx="3">
                  <c:v>9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024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4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08799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4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79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Swipe</c:v>
                  </c:pt>
                  <c:pt idx="1">
                    <c:v>Chip</c:v>
                  </c:pt>
                  <c:pt idx="2">
                    <c:v>Online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17</c:v>
                </c:pt>
                <c:pt idx="2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024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4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08799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4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79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Businessman</c:v>
                  </c:pt>
                  <c:pt idx="1">
                    <c:v>White-collar</c:v>
                  </c:pt>
                  <c:pt idx="2">
                    <c:v>Self-employed</c:v>
                  </c:pt>
                  <c:pt idx="3">
                    <c:v>Govt</c:v>
                  </c:pt>
                  <c:pt idx="4">
                    <c:v>Blue-collar</c:v>
                  </c:pt>
                  <c:pt idx="5">
                    <c:v>Retirees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17.4</c:v>
                </c:pt>
                <c:pt idx="1">
                  <c:v>10.1</c:v>
                </c:pt>
                <c:pt idx="2">
                  <c:v>8.3</c:v>
                </c:pt>
                <c:pt idx="3">
                  <c:v>8.1</c:v>
                </c:pt>
                <c:pt idx="4">
                  <c:v>6.9</c:v>
                </c:pt>
                <c:pt idx="5">
                  <c:v>4.5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024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4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9CC6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4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799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C6D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30–40</c:v>
                  </c:pt>
                  <c:pt idx="1">
                    <c:v>40–50</c:v>
                  </c:pt>
                  <c:pt idx="2">
                    <c:v>50–60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25</c:v>
                </c:pt>
                <c:pt idx="2">
                  <c:v>19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024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4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two dashboards. Revenue of 55.3M comes from interest earned (7.8M) plus other card income, on 44.5M of transaction amount across 656K transactions. Customer satisfaction score is 3.19.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is flat across the year at about 14M per quarter. Q3 is the peak at 14.2M. Q4 drops to 13.3M, about 6% lower, and also has the fewest transactions (161.6K vs 166.6K in Q3).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is the entry-level card and carries 83% of revenue, so premium cards are under-used. Bills are the largest spend type. Swipe transactions dominate, while online is only about 5% of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Businessmen are the top job segment at 17.4M (31% of revenue). Customers aged 40 to 60 produce about 80% of revenue. Women are about 58% of customers (5.88K of 10.1K) but roughly 45% of revenue, estimated from the gender-split bars. The high-income group brings about 29M, of which men account for 22M.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actions follow from the dashboards: upsell premium cards, grow online spend, plan for the Q4 dip, and activate women and younger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Source: Power BI dashboards (Transaction and Customer reports), 2023. Values rounded.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Analytics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Insights from the Transaction and Customer dashboards built in Power BI, 2023</a:t>
            </a:r>
            <a:endParaRPr lang="en-US" sz="2200" dirty="0"/>
          </a:p>
        </p:txBody>
      </p:sp>
      <p:sp>
        <p:nvSpPr>
          <p:cNvPr id="4" name="KPI card 1"/>
          <p:cNvSpPr/>
          <p:nvPr/>
        </p:nvSpPr>
        <p:spPr>
          <a:xfrm>
            <a:off x="731520" y="3931920"/>
            <a:ext cx="1925726" cy="1645920"/>
          </a:xfrm>
          <a:prstGeom prst="roundRect">
            <a:avLst>
              <a:gd name="adj" fmla="val 4444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4114800"/>
            <a:ext cx="1559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55.3M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892040"/>
            <a:ext cx="1559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Revenue</a:t>
            </a:r>
            <a:endParaRPr lang="en-US" sz="1400" dirty="0"/>
          </a:p>
        </p:txBody>
      </p:sp>
      <p:sp>
        <p:nvSpPr>
          <p:cNvPr id="7" name="KPI card 2"/>
          <p:cNvSpPr/>
          <p:nvPr/>
        </p:nvSpPr>
        <p:spPr>
          <a:xfrm>
            <a:off x="2931566" y="3931920"/>
            <a:ext cx="1925726" cy="1645920"/>
          </a:xfrm>
          <a:prstGeom prst="roundRect">
            <a:avLst>
              <a:gd name="adj" fmla="val 4444"/>
            </a:avLst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14446" y="4114800"/>
            <a:ext cx="1559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7.8M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114446" y="4892040"/>
            <a:ext cx="1559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Interest earned</a:t>
            </a:r>
            <a:endParaRPr lang="en-US" sz="1400" dirty="0"/>
          </a:p>
        </p:txBody>
      </p:sp>
      <p:sp>
        <p:nvSpPr>
          <p:cNvPr id="10" name="KPI card 3"/>
          <p:cNvSpPr/>
          <p:nvPr/>
        </p:nvSpPr>
        <p:spPr>
          <a:xfrm>
            <a:off x="5131613" y="3931920"/>
            <a:ext cx="1925726" cy="1645920"/>
          </a:xfrm>
          <a:prstGeom prst="roundRect">
            <a:avLst>
              <a:gd name="adj" fmla="val 4444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14493" y="4114800"/>
            <a:ext cx="1559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44.5M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314493" y="4892040"/>
            <a:ext cx="1559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Transaction amount</a:t>
            </a:r>
            <a:endParaRPr lang="en-US" sz="1400" dirty="0"/>
          </a:p>
        </p:txBody>
      </p:sp>
      <p:sp>
        <p:nvSpPr>
          <p:cNvPr id="13" name="KPI card 4"/>
          <p:cNvSpPr/>
          <p:nvPr/>
        </p:nvSpPr>
        <p:spPr>
          <a:xfrm>
            <a:off x="7331659" y="3931920"/>
            <a:ext cx="1925726" cy="1645920"/>
          </a:xfrm>
          <a:prstGeom prst="roundRect">
            <a:avLst>
              <a:gd name="adj" fmla="val 4444"/>
            </a:avLst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14539" y="4114800"/>
            <a:ext cx="1559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656K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514539" y="4892040"/>
            <a:ext cx="1559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Transactions</a:t>
            </a:r>
            <a:endParaRPr lang="en-US" sz="1400" dirty="0"/>
          </a:p>
        </p:txBody>
      </p:sp>
      <p:sp>
        <p:nvSpPr>
          <p:cNvPr id="16" name="KPI card 5"/>
          <p:cNvSpPr/>
          <p:nvPr/>
        </p:nvSpPr>
        <p:spPr>
          <a:xfrm>
            <a:off x="9531706" y="3931920"/>
            <a:ext cx="1925726" cy="1645920"/>
          </a:xfrm>
          <a:prstGeom prst="roundRect">
            <a:avLst>
              <a:gd name="adj" fmla="val 4444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14586" y="4114800"/>
            <a:ext cx="1559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3.19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714586" y="4892040"/>
            <a:ext cx="15599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Customer satisfaction score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Kedar Bhosle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Revenue held steady, then dipped in Q4</a:t>
            </a:r>
            <a:endParaRPr lang="en-US" sz="3400" dirty="0"/>
          </a:p>
        </p:txBody>
      </p:sp>
      <p:sp>
        <p:nvSpPr>
          <p:cNvPr id="3" name="Quarterly chart card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Revenue by quarter (M)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2011680"/>
          <a:ext cx="6309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at Q4 dip"/>
          <p:cNvSpPr/>
          <p:nvPr/>
        </p:nvSpPr>
        <p:spPr>
          <a:xfrm>
            <a:off x="7589520" y="1417320"/>
            <a:ext cx="405079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63840" y="1581912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−6%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24028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Q4 revenue vs Q3 (13.3M vs 14.2M)</a:t>
            </a:r>
            <a:endParaRPr lang="en-US" sz="1400" dirty="0"/>
          </a:p>
        </p:txBody>
      </p:sp>
      <p:sp>
        <p:nvSpPr>
          <p:cNvPr id="9" name="Stat Q4 transactions"/>
          <p:cNvSpPr/>
          <p:nvPr/>
        </p:nvSpPr>
        <p:spPr>
          <a:xfrm>
            <a:off x="7589520" y="3040380"/>
            <a:ext cx="405079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63840" y="3204972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161.6K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86334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Q4 transactions, the lowest of the year (peak: 166.6K in Q3)</a:t>
            </a:r>
            <a:endParaRPr lang="en-US" sz="1400" dirty="0"/>
          </a:p>
        </p:txBody>
      </p:sp>
      <p:sp>
        <p:nvSpPr>
          <p:cNvPr id="12" name="Stat interest share"/>
          <p:cNvSpPr/>
          <p:nvPr/>
        </p:nvSpPr>
        <p:spPr>
          <a:xfrm>
            <a:off x="7589520" y="4663440"/>
            <a:ext cx="405079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63840" y="4828032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14%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548640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revenue is interest earned (7.8M of 55.3M)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Blue cards and bills drive revenue</a:t>
            </a:r>
            <a:endParaRPr lang="en-US" sz="3400" dirty="0"/>
          </a:p>
        </p:txBody>
      </p:sp>
      <p:sp>
        <p:nvSpPr>
          <p:cNvPr id="3" name="Panel 1 card"/>
          <p:cNvSpPr/>
          <p:nvPr/>
        </p:nvSpPr>
        <p:spPr>
          <a:xfrm>
            <a:off x="548640" y="1417320"/>
            <a:ext cx="3514344" cy="466344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Revenue by card category (M)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965960"/>
          <a:ext cx="3240024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475488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Blue cards bring 46.1M, about 83% of revenue. Platinum adds just 1.1M (2%).</a:t>
            </a:r>
            <a:endParaRPr lang="en-US" sz="1400" dirty="0"/>
          </a:p>
        </p:txBody>
      </p:sp>
      <p:sp>
        <p:nvSpPr>
          <p:cNvPr id="7" name="Panel 2 card"/>
          <p:cNvSpPr/>
          <p:nvPr/>
        </p:nvSpPr>
        <p:spPr>
          <a:xfrm>
            <a:off x="4337304" y="1417320"/>
            <a:ext cx="3514344" cy="466344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65904" y="1572768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Revenue by spend type (M)</a:t>
            </a:r>
            <a:endParaRPr lang="en-US" sz="16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474464" y="1965960"/>
          <a:ext cx="3240024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65904" y="475488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Bills lead at 14M, a quarter of revenue. Travel is lowest at 6M.</a:t>
            </a:r>
            <a:endParaRPr lang="en-US" sz="1400" dirty="0"/>
          </a:p>
        </p:txBody>
      </p:sp>
      <p:sp>
        <p:nvSpPr>
          <p:cNvPr id="11" name="Panel 3 card"/>
          <p:cNvSpPr/>
          <p:nvPr/>
        </p:nvSpPr>
        <p:spPr>
          <a:xfrm>
            <a:off x="8125968" y="1417320"/>
            <a:ext cx="3514344" cy="466344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354568" y="1572768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Revenue by use type (M)</a:t>
            </a:r>
            <a:endParaRPr lang="en-US" sz="16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8263128" y="1965960"/>
          <a:ext cx="3240024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8354568" y="475488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Swipe brings 35M, nearly two-thirds. Online is only 3M (about 5%).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Mid-career, high-income customers lead</a:t>
            </a:r>
            <a:endParaRPr lang="en-US" sz="3400" dirty="0"/>
          </a:p>
        </p:txBody>
      </p:sp>
      <p:sp>
        <p:nvSpPr>
          <p:cNvPr id="3" name="Job chart card"/>
          <p:cNvSpPr/>
          <p:nvPr/>
        </p:nvSpPr>
        <p:spPr>
          <a:xfrm>
            <a:off x="548640" y="1417320"/>
            <a:ext cx="4206240" cy="46634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Revenue by customer job (M)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4023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Age chart card"/>
          <p:cNvSpPr/>
          <p:nvPr/>
        </p:nvSpPr>
        <p:spPr>
          <a:xfrm>
            <a:off x="5029200" y="1417320"/>
            <a:ext cx="3200400" cy="466344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25780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Revenue by age group (M)</a:t>
            </a:r>
            <a:endParaRPr lang="en-US" sz="16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120640" y="2011680"/>
          <a:ext cx="3017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257800" y="5303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Ages 20–30 and 60+ contribute very little.</a:t>
            </a:r>
            <a:endParaRPr lang="en-US" sz="1400" dirty="0"/>
          </a:p>
        </p:txBody>
      </p:sp>
      <p:sp>
        <p:nvSpPr>
          <p:cNvPr id="10" name="Stat age share"/>
          <p:cNvSpPr/>
          <p:nvPr/>
        </p:nvSpPr>
        <p:spPr>
          <a:xfrm>
            <a:off x="8503920" y="1417320"/>
            <a:ext cx="313639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778240" y="1581912"/>
            <a:ext cx="2587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80%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8778240" y="22402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revenue from customers aged 40 to 60 (44M)</a:t>
            </a:r>
            <a:endParaRPr lang="en-US" sz="1400" dirty="0"/>
          </a:p>
        </p:txBody>
      </p:sp>
      <p:sp>
        <p:nvSpPr>
          <p:cNvPr id="13" name="Stat gender gap"/>
          <p:cNvSpPr/>
          <p:nvPr/>
        </p:nvSpPr>
        <p:spPr>
          <a:xfrm>
            <a:off x="8503920" y="3040380"/>
            <a:ext cx="313639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778240" y="3204972"/>
            <a:ext cx="2587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58% vs 45%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8778240" y="386334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women's share of customers vs share of revenue</a:t>
            </a:r>
            <a:endParaRPr lang="en-US" sz="1400" dirty="0"/>
          </a:p>
        </p:txBody>
      </p:sp>
      <p:sp>
        <p:nvSpPr>
          <p:cNvPr id="16" name="Stat income group"/>
          <p:cNvSpPr/>
          <p:nvPr/>
        </p:nvSpPr>
        <p:spPr>
          <a:xfrm>
            <a:off x="8503920" y="4663440"/>
            <a:ext cx="313639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778240" y="4828032"/>
            <a:ext cx="2587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29M</a:t>
            </a:r>
            <a:endParaRPr lang="en-US" sz="3600" dirty="0"/>
          </a:p>
        </p:txBody>
      </p:sp>
      <p:sp>
        <p:nvSpPr>
          <p:cNvPr id="18" name="Text 14"/>
          <p:cNvSpPr txBox="1"/>
          <p:nvPr/>
        </p:nvSpPr>
        <p:spPr>
          <a:xfrm>
            <a:off x="8778240" y="548640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high-income group revenue, over half the total (men 22M)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Findings and next steps</a:t>
            </a:r>
            <a:endParaRPr lang="en-US" sz="3400" dirty="0"/>
          </a:p>
        </p:txBody>
      </p:sp>
      <p:sp>
        <p:nvSpPr>
          <p:cNvPr id="3" name="Recommendation 1 card"/>
          <p:cNvSpPr/>
          <p:nvPr/>
        </p:nvSpPr>
        <p:spPr>
          <a:xfrm>
            <a:off x="548640" y="146304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accent3"/>
          </a:solidFill>
          <a:ln/>
        </p:spPr>
      </p:sp>
      <p:sp>
        <p:nvSpPr>
          <p:cNvPr id="4" name="Number 1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37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Grow premium card use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Blue is 83% of revenue; Platinum is only 2%.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Action: Offer upgrades to high-income Blue holders.</a:t>
            </a:r>
            <a:endParaRPr lang="en-US" sz="1400" dirty="0"/>
          </a:p>
        </p:txBody>
      </p:sp>
      <p:sp>
        <p:nvSpPr>
          <p:cNvPr id="8" name="Recommendation 2 card"/>
          <p:cNvSpPr/>
          <p:nvPr/>
        </p:nvSpPr>
        <p:spPr>
          <a:xfrm>
            <a:off x="6245352" y="146304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accent3"/>
          </a:solidFill>
          <a:ln/>
        </p:spPr>
      </p:sp>
      <p:sp>
        <p:nvSpPr>
          <p:cNvPr id="9" name="Number 2"/>
          <p:cNvSpPr/>
          <p:nvPr/>
        </p:nvSpPr>
        <p:spPr>
          <a:xfrm>
            <a:off x="6519672" y="17373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1737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Move spend online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Online brings just 3M (about 5%); swipe brings 35M.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Action: Launch online rewards and offers.</a:t>
            </a:r>
            <a:endParaRPr lang="en-US" sz="1400" dirty="0"/>
          </a:p>
        </p:txBody>
      </p:sp>
      <p:sp>
        <p:nvSpPr>
          <p:cNvPr id="13" name="Recommendation 3 card"/>
          <p:cNvSpPr/>
          <p:nvPr/>
        </p:nvSpPr>
        <p:spPr>
          <a:xfrm>
            <a:off x="548640" y="384048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accent3"/>
          </a:solidFill>
          <a:ln/>
        </p:spPr>
      </p:sp>
      <p:sp>
        <p:nvSpPr>
          <p:cNvPr id="14" name="Number 3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114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Recover the Q4 dip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70916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Q4 revenue fell 6% from Q3, with the fewest transactions.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Action: Run seasonal campaigns ahead of Q4.</a:t>
            </a:r>
            <a:endParaRPr lang="en-US" sz="1400" dirty="0"/>
          </a:p>
        </p:txBody>
      </p:sp>
      <p:sp>
        <p:nvSpPr>
          <p:cNvPr id="18" name="Recommendation 4 card"/>
          <p:cNvSpPr/>
          <p:nvPr/>
        </p:nvSpPr>
        <p:spPr>
          <a:xfrm>
            <a:off x="6245352" y="384048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accent3"/>
          </a:solidFill>
          <a:ln/>
        </p:spPr>
      </p:sp>
      <p:sp>
        <p:nvSpPr>
          <p:cNvPr id="19" name="Number 4"/>
          <p:cNvSpPr/>
          <p:nvPr/>
        </p:nvSpPr>
        <p:spPr>
          <a:xfrm>
            <a:off x="6519672" y="4114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19672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4114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Reach women and younger customers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70916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Women are 58% of customers but about 45% of revenue; under-40s add little.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Action: Use spend-activation offers for these groups.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t Card Insights">
  <a:themeElements>
    <a:clrScheme name="Credit Card Insights">
      <a:dk1>
        <a:srgbClr val="10242E"/>
      </a:dk1>
      <a:lt1>
        <a:srgbClr val="FFFFFF"/>
      </a:lt1>
      <a:dk2>
        <a:srgbClr val="0B4F6C"/>
      </a:dk2>
      <a:lt2>
        <a:srgbClr val="EEF4F7"/>
      </a:lt2>
      <a:accent1>
        <a:srgbClr val="08799F"/>
      </a:accent1>
      <a:accent2>
        <a:srgbClr val="C9A227"/>
      </a:accent2>
      <a:accent3>
        <a:srgbClr val="245566"/>
      </a:accent3>
      <a:accent4>
        <a:srgbClr val="9CC6D6"/>
      </a:accent4>
      <a:accent5>
        <a:srgbClr val="B5483A"/>
      </a:accent5>
      <a:accent6>
        <a:srgbClr val="5F707B"/>
      </a:accent6>
      <a:hlink>
        <a:srgbClr val="08799F"/>
      </a:hlink>
      <a:folHlink>
        <a:srgbClr val="5F707B"/>
      </a:folHlink>
    </a:clrScheme>
    <a:fontScheme name="Credit Card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Analytics: Insights from Two Power BI Dashboards</dc:title>
  <dc:subject>PptxGenJS Presentation</dc:subject>
  <dc:creator>Kedar Bhosle</dc:creator>
  <cp:lastModifiedBy>Kedar Bhosle</cp:lastModifiedBy>
  <cp:revision>1</cp:revision>
  <dcterms:created xsi:type="dcterms:W3CDTF">2026-10-22T18:22:03Z</dcterms:created>
  <dcterms:modified xsi:type="dcterms:W3CDTF">2026-10-22T18:22:03Z</dcterms:modified>
</cp:coreProperties>
</file>